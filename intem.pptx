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5" r:id="rId11"/>
    <p:sldId id="266" r:id="rId12"/>
    <p:sldId id="268" r:id="rId13"/>
    <p:sldId id="265" r:id="rId14"/>
    <p:sldId id="267" r:id="rId15"/>
    <p:sldId id="269" r:id="rId16"/>
    <p:sldId id="271" r:id="rId17"/>
    <p:sldId id="272" r:id="rId18"/>
    <p:sldId id="273" r:id="rId19"/>
    <p:sldId id="270" r:id="rId20"/>
    <p:sldId id="274" r:id="rId21"/>
    <p:sldId id="275" r:id="rId22"/>
    <p:sldId id="277" r:id="rId23"/>
    <p:sldId id="276" r:id="rId24"/>
    <p:sldId id="279" r:id="rId25"/>
    <p:sldId id="280" r:id="rId26"/>
    <p:sldId id="282" r:id="rId27"/>
    <p:sldId id="278" r:id="rId28"/>
    <p:sldId id="281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29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966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36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230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36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25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9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54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95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3131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55341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972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619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9786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35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8471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7323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00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20232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80996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88460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48899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7209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4875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044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2779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881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704C11E-8139-4111-897C-B38C0635ACF4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9EAE63A-88CD-4C08-A057-FCF749D1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145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BAA2-B71A-4462-283C-6B36BBC7A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359" y="1885015"/>
            <a:ext cx="10451282" cy="154398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E COMMERCE SALES AND CUSTOMER ANALYTICS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53C4E-9F42-BFB0-5333-961135A553D6}"/>
              </a:ext>
            </a:extLst>
          </p:cNvPr>
          <p:cNvSpPr txBox="1"/>
          <p:nvPr/>
        </p:nvSpPr>
        <p:spPr>
          <a:xfrm>
            <a:off x="8184631" y="4766872"/>
            <a:ext cx="3747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Mr KARIKALAN.P</a:t>
            </a:r>
          </a:p>
        </p:txBody>
      </p:sp>
    </p:spTree>
    <p:extLst>
      <p:ext uri="{BB962C8B-B14F-4D97-AF65-F5344CB8AC3E}">
        <p14:creationId xmlns:p14="http://schemas.microsoft.com/office/powerpoint/2010/main" val="1163482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8946-B99B-6F98-7CEF-96209CE4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208"/>
            <a:ext cx="9942409" cy="876193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ABOUT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6BD8-0219-F2E1-F32C-E0F825280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5401"/>
            <a:ext cx="12192000" cy="4305300"/>
          </a:xfrm>
        </p:spPr>
        <p:txBody>
          <a:bodyPr/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 6,54,341 Records in Dataset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100,000 transactions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22,474 customers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546 products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between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and 2025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9 connected tables.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Business Financials: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₹2.08B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delivered net revenue,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₹197.3M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gross profit,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₹25.7K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Order Value (AOV),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₹268.7M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lost to refunds.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star schema linking central transactions (orders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order_items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dimensions (customers, products,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marketing_campaigns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operational fact tables (payments, shipments, returns,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customer_reviews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65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DFDD-8F56-8EC1-2A71-D221DECC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42409" cy="876193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E111-3B84-01EC-48FA-D3534FF2D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9337"/>
            <a:ext cx="9942409" cy="43053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(Ingestion)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&amp; Cleaning (ETL in Power Query)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(Star/Snowflake Schema)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 Aggregation &amp; Analytical Formulation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Visualization &amp; Reporting (Dashboard Build)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Extraction &amp; Business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4270650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994A-CD27-A7DD-D629-6DCEF3323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216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  EDA-FINANCIAL &amp; SALES PERFORMANCE</a:t>
            </a:r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DBE1-5516-CADA-A2CE-9CF642295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6291"/>
            <a:ext cx="11631302" cy="43053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categories generate the highest gross profit vs. return refund leakage?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higher discounting result in lower profit per unit sold?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cash gap between ordered amounts and actual payments collected across payment methods?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transaction fee cost is incurred across order statuses?</a:t>
            </a:r>
          </a:p>
        </p:txBody>
      </p:sp>
    </p:spTree>
    <p:extLst>
      <p:ext uri="{BB962C8B-B14F-4D97-AF65-F5344CB8AC3E}">
        <p14:creationId xmlns:p14="http://schemas.microsoft.com/office/powerpoint/2010/main" val="1878482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78E1-F496-D93A-EE99-8936EC2C5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218"/>
            <a:ext cx="10371826" cy="1030084"/>
          </a:xfrm>
        </p:spPr>
        <p:txBody>
          <a:bodyPr>
            <a:normAutofit/>
          </a:bodyPr>
          <a:lstStyle/>
          <a:p>
            <a:r>
              <a:rPr lang="en-IN" sz="4000" b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EDA-CUSTOMER &amp; MARKETING ANALYTICS</a:t>
            </a:r>
            <a:endParaRPr lang="en-IN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4721D-A369-814E-40AE-9AA565D03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6350"/>
            <a:ext cx="11902190" cy="43053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spend distribution across Customer Status and Loyalty Tiers?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 acquisition channels bring the highest average spending customers?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marketing campaign performance across target segments?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geographic states have the highest order frequency and spending concentration?</a:t>
            </a:r>
          </a:p>
        </p:txBody>
      </p:sp>
    </p:spTree>
    <p:extLst>
      <p:ext uri="{BB962C8B-B14F-4D97-AF65-F5344CB8AC3E}">
        <p14:creationId xmlns:p14="http://schemas.microsoft.com/office/powerpoint/2010/main" val="274474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A5EC2-DF23-36FE-BFE7-1C38EBE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42409" cy="876193"/>
          </a:xfrm>
        </p:spPr>
        <p:txBody>
          <a:bodyPr>
            <a:normAutofit/>
          </a:bodyPr>
          <a:lstStyle/>
          <a:p>
            <a:r>
              <a:rPr lang="en-IN" sz="4000" b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EDA-SUPPLY CHAIN &amp; DELIVERY OPERATIONS</a:t>
            </a:r>
            <a:endParaRPr lang="en-IN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68FE9-CC91-BB4E-5D56-778F6CD72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6193"/>
            <a:ext cx="12037102" cy="445343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shipping methods experience the highest delivery delay counts?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slowest warehouse-to-delivery city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corridors?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delivery delay correlate with order outcomes (Delivered vs. Delivered then Returned)?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01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BBF4E-964B-A1C6-1818-28DD5116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42409" cy="876193"/>
          </a:xfrm>
        </p:spPr>
        <p:txBody>
          <a:bodyPr>
            <a:normAutofit/>
          </a:bodyPr>
          <a:lstStyle/>
          <a:p>
            <a:r>
              <a:rPr lang="en-IN" sz="4000" b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EDA-PRODUCT QUALITY &amp; INVENTORY MANAGEMENT</a:t>
            </a:r>
            <a:endParaRPr lang="en-IN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56784-FF86-57A5-DA4F-C4D6356B5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4288"/>
            <a:ext cx="12192000" cy="43053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types have high sales volume but critically low stock levels?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categories have the highest return volumes and what are their primary return reasons?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customer review ratings and sentiments vary across product categories?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verified purchases give higher ratings than unverified reviews across brands?</a:t>
            </a:r>
          </a:p>
        </p:txBody>
      </p:sp>
    </p:spTree>
    <p:extLst>
      <p:ext uri="{BB962C8B-B14F-4D97-AF65-F5344CB8AC3E}">
        <p14:creationId xmlns:p14="http://schemas.microsoft.com/office/powerpoint/2010/main" val="51250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FE7D-9A84-8A8E-CBCF-FBC8302B3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0" y="0"/>
            <a:ext cx="12173080" cy="994346"/>
          </a:xfrm>
        </p:spPr>
        <p:txBody>
          <a:bodyPr/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b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D6E9A2-2B8D-406E-2C5F-4C4E62088C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20" y="664562"/>
                <a:ext cx="12192000" cy="5863653"/>
              </a:xfrm>
            </p:spPr>
            <p:txBody>
              <a:bodyPr/>
              <a:lstStyle/>
              <a:p>
                <a:pPr lvl="0"/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customers[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(Many-to-One) </a:t>
                </a:r>
              </a:p>
              <a:p>
                <a:pPr lvl="0"/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campaign_id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marketing_campaigns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campaign_id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(Many-to-One) </a:t>
                </a:r>
              </a:p>
              <a:p>
                <a:pPr lvl="0"/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order_items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(Many-to-One) </a:t>
                </a:r>
              </a:p>
              <a:p>
                <a:pPr lvl="0"/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order_items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(Many-to-One) </a:t>
                </a:r>
              </a:p>
              <a:p>
                <a:pPr lvl="0"/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payments[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(1-to-1 operational settlement link) </a:t>
                </a:r>
              </a:p>
              <a:p>
                <a:pPr lvl="0"/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shipments[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/ payments[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Fulfillment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trace link) </a:t>
                </a:r>
              </a:p>
              <a:p>
                <a:pPr lvl="0"/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returns &amp; </a:t>
                </a:r>
                <a:r>
                  <a:rPr lang="en-I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customer_reviews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linked to orders (via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order_id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products (via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product_id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D6E9A2-2B8D-406E-2C5F-4C4E62088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20" y="664562"/>
                <a:ext cx="12192000" cy="5863653"/>
              </a:xfrm>
              <a:blipFill>
                <a:blip r:embed="rId2"/>
                <a:stretch>
                  <a:fillRect l="-750" t="-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6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39BD-8371-D805-2083-451ED533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b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E33B8-CF4B-0A2C-1CE1-FE143DBF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9495"/>
            <a:ext cx="12037102" cy="4305300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Power BI project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end-to-end e-commerce database covering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100,000 orders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placed between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 1, 2023, and December 31, 2025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India. The data model integrates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core operational tables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star/snowflake schema to track the complete commercial lifecycle: marketing acquisition, order transactions, payment settlements, logistics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customer feedback, and return processing.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the 3-year timeline, the business generated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₹2.57B in total Gross Merchandise Value (GMV)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realized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₹2.08B in successfully delivered net revenue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yielding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₹197.29M in total gross profit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585,640 units sold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4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BB999F-A909-E890-995A-CDDD69A2654A}"/>
              </a:ext>
            </a:extLst>
          </p:cNvPr>
          <p:cNvSpPr txBox="1"/>
          <p:nvPr/>
        </p:nvSpPr>
        <p:spPr>
          <a:xfrm>
            <a:off x="719528" y="1379095"/>
            <a:ext cx="104781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1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 &amp; SALES PERFORMANCE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910465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5432-4E61-3FE2-42EE-9D5677180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57"/>
            <a:ext cx="12192000" cy="119983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categories generate the highest gross profit vs. return refund leakage?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A53FF-14C9-B30C-E066-ABC2447A1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3" y="854439"/>
            <a:ext cx="10777927" cy="3606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4A417E-A42E-6DC5-4D75-84410E245815}"/>
              </a:ext>
            </a:extLst>
          </p:cNvPr>
          <p:cNvSpPr txBox="1"/>
          <p:nvPr/>
        </p:nvSpPr>
        <p:spPr>
          <a:xfrm>
            <a:off x="419725" y="4781862"/>
            <a:ext cx="1064175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sales (~46M).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&amp; Kitchen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Footwear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next (~25M and ~23M).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Bags, Appliances, and Furniture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strong performance.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Grocery, Baby Care, Pet Supplies, and Stationery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lowest sales (~1M).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mainly driven by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and other top categories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604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C75F-6817-727C-015D-F10C1E62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98" y="199110"/>
            <a:ext cx="11121635" cy="876193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Does higher discounting result in lower profit per unit sold?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5BCAF-133A-B56D-CB33-AA5E00A2B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67" y="637206"/>
            <a:ext cx="8439462" cy="35079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9A712D-24E2-5091-7855-900AC110650A}"/>
              </a:ext>
            </a:extLst>
          </p:cNvPr>
          <p:cNvSpPr txBox="1"/>
          <p:nvPr/>
        </p:nvSpPr>
        <p:spPr>
          <a:xfrm>
            <a:off x="105998" y="4389125"/>
            <a:ext cx="1208600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 Discount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yields the highest profitability, securing an average profit of over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Discount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the final margin threshold, where average profit drops to around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to 30% Discounts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completely erode margins, driving average profits into net losses from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-100 down to -1,200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41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C6CBE-0B45-5E8B-3D83-1A96DA33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1" y="111385"/>
            <a:ext cx="11962151" cy="638124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What is the total cash gap between ordered amounts and actual payments collected across payment methods?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A5E1DF-2105-33F4-0559-D3BBAD44F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39" y="927616"/>
            <a:ext cx="8624642" cy="3173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0EC7FD-63B5-940A-2F72-864E10AB7E39}"/>
              </a:ext>
            </a:extLst>
          </p:cNvPr>
          <p:cNvSpPr txBox="1"/>
          <p:nvPr/>
        </p:nvSpPr>
        <p:spPr>
          <a:xfrm>
            <a:off x="0" y="4272677"/>
            <a:ext cx="119621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dominates all payment methods, generating the highest volume by far at over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0.8bn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total amount.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on Delivery and Credit Card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as major secondary pillars, sitting around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0.45bn and 0.4bn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Card and Net Banking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a moderate mid-tier presence, contributing roughly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0.32bn and 0.22bn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Later, Gift Card, and Cardless EMI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 at the bottom of the chart, bringing in negligible volume near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0.05bn or lower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339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BCF1-5E55-F4A0-D96B-4D0D8703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910"/>
            <a:ext cx="12192000" cy="137222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How much transaction fee cost is incurred across order statuses?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53B63-3216-39F1-CBED-B4B0D1EEC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27" y="605862"/>
            <a:ext cx="7149365" cy="3466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560BB0-9E04-5B74-2757-7F60C11142FF}"/>
              </a:ext>
            </a:extLst>
          </p:cNvPr>
          <p:cNvSpPr txBox="1"/>
          <p:nvPr/>
        </p:nvSpPr>
        <p:spPr>
          <a:xfrm>
            <a:off x="52466" y="4383796"/>
            <a:ext cx="120870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heavily dominates the overall chart, accounting for the vast majority of volume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6.9M (86.65%)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orders represent the largest operational leakage point, tracking next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0.57M (7.11%)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follow closely as a secondary leak, sitting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0.37M (4.64%)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is minimal, showing a minor current queue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0.13M (1.59%)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Portfolio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stands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7.97M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highly successful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rates alongside visible areas for return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385305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D61C21-4AAB-72BE-DF7F-578248B9493B}"/>
              </a:ext>
            </a:extLst>
          </p:cNvPr>
          <p:cNvSpPr txBox="1"/>
          <p:nvPr/>
        </p:nvSpPr>
        <p:spPr>
          <a:xfrm>
            <a:off x="1269167" y="2233533"/>
            <a:ext cx="9653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2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 &amp; MARKETING ANALYTICS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03581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5514-63E8-8841-A4D8-CBA4AB48B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" y="19229"/>
            <a:ext cx="11761015" cy="87619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spend distribution across Customer Status and Loyalty Tiers?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8F87A-C9B1-15F0-F787-9639AC3C0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5" y="674557"/>
            <a:ext cx="11626104" cy="3173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2500C5-220A-E845-64AD-C94E217EDB31}"/>
              </a:ext>
            </a:extLst>
          </p:cNvPr>
          <p:cNvSpPr txBox="1"/>
          <p:nvPr/>
        </p:nvSpPr>
        <p:spPr>
          <a:xfrm>
            <a:off x="0" y="4027920"/>
            <a:ext cx="120508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represents the single largest category by value, locking up a massive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1.35bn (1,34,98,28,965.41)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tier leads the entire customer portfolio in contribution,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900M (89,97,83,651.51)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overall value.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Gold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form the strongest individual revenue segment, sitting securely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344M (34,40,08,227.81)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Silver and Platinum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tiers hold substantial weight in the portfolio, contributing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748M and 581M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total historical value.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segments reaches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2.48bn (2,47,76,54,838.25)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severe revenue leakage from churn compared to active value.</a:t>
            </a:r>
          </a:p>
        </p:txBody>
      </p:sp>
    </p:spTree>
    <p:extLst>
      <p:ext uri="{BB962C8B-B14F-4D97-AF65-F5344CB8AC3E}">
        <p14:creationId xmlns:p14="http://schemas.microsoft.com/office/powerpoint/2010/main" val="3645430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467C-335C-EC51-2A80-BD274B31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1449"/>
            <a:ext cx="12082072" cy="82796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 acquisition channels bring the highest average spending customers?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24F3F5-1869-04B2-DE4A-637ED918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830" y="623920"/>
            <a:ext cx="7240250" cy="32953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AB6FFD-EFAD-909B-47A6-AF9859302E1D}"/>
              </a:ext>
            </a:extLst>
          </p:cNvPr>
          <p:cNvSpPr txBox="1"/>
          <p:nvPr/>
        </p:nvSpPr>
        <p:spPr>
          <a:xfrm>
            <a:off x="0" y="4105638"/>
            <a:ext cx="117073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Marketing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all acquisition channels, securing the highest average metric at over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25.5K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- Instagram and Affiliate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closely behind as top-tier drivers, both sitting near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25.2K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- Facebook and Referral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a strong presence, contributing steady metrics around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25K and 24.6K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 Search and Email Marketing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 at the bottom of the chart, bringing in the lowest volumes at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23.8K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an extremely tight distribution across the board, with less than a 2K difference separating the top and bottom channels.</a:t>
            </a:r>
          </a:p>
        </p:txBody>
      </p:sp>
    </p:spTree>
    <p:extLst>
      <p:ext uri="{BB962C8B-B14F-4D97-AF65-F5344CB8AC3E}">
        <p14:creationId xmlns:p14="http://schemas.microsoft.com/office/powerpoint/2010/main" val="3339964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A158D-2E1B-2CC4-2849-01DF8B78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200"/>
            <a:ext cx="12192000" cy="85785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marketing campaign performance across target segments?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86088-E97C-A10A-2C7F-227046C57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37" y="493125"/>
            <a:ext cx="11392525" cy="2486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9E497F-442C-F9BB-9916-F0C8481CA7D5}"/>
              </a:ext>
            </a:extLst>
          </p:cNvPr>
          <p:cNvSpPr txBox="1"/>
          <p:nvPr/>
        </p:nvSpPr>
        <p:spPr>
          <a:xfrm>
            <a:off x="0" y="3194776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Organic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serves as the most efficient growth engine, generating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7.67M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revenue against a lean cost of just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1.44M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 Search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drives high volume but at a significant premium, bringing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6.86M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revenue with a steep cost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3.63M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- Facebook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major efficiency bottleneck, spending a heavy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3.79M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return a narrow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4.09M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revenue.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Customers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 out as the highest-grossing target segment across channels, contributing a leading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10.38M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top line.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Portfolio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 show strong macro returns, securing a total revenue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43.63M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18.71M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overall campaign spend.</a:t>
            </a:r>
          </a:p>
        </p:txBody>
      </p:sp>
    </p:spTree>
    <p:extLst>
      <p:ext uri="{BB962C8B-B14F-4D97-AF65-F5344CB8AC3E}">
        <p14:creationId xmlns:p14="http://schemas.microsoft.com/office/powerpoint/2010/main" val="1917828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8FAD-C4E1-BA4E-36AC-FBAC0B9C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3432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geographic states have the highest order frequency and spending concentration?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328D9-6FF7-08A7-9D11-93C07F8C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347" y="595546"/>
            <a:ext cx="7172653" cy="3149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085E0-A6E7-29EE-8E9F-229FA186ACEF}"/>
              </a:ext>
            </a:extLst>
          </p:cNvPr>
          <p:cNvSpPr txBox="1"/>
          <p:nvPr/>
        </p:nvSpPr>
        <p:spPr>
          <a:xfrm>
            <a:off x="1" y="3942413"/>
            <a:ext cx="12192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heavily dominates the chart as the absolute market leader, generating over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345M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total volume.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Uttar Pradesh and Gujarat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 as massive secondary powerhouses, contributing roughly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270M and 263M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Karnataka and Tamil Nadu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a strong regional presence in the mid-tier, tracking near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195M and 188M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Bihar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sits at the absolute bottom of the state ranking, bringing in the lowest volume at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306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6F366B-C3CF-49E4-DE32-1A893DDA449B}"/>
              </a:ext>
            </a:extLst>
          </p:cNvPr>
          <p:cNvSpPr txBox="1"/>
          <p:nvPr/>
        </p:nvSpPr>
        <p:spPr>
          <a:xfrm>
            <a:off x="1456544" y="2105561"/>
            <a:ext cx="92789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3</a:t>
            </a:r>
          </a:p>
          <a:p>
            <a:pPr algn="ctr"/>
            <a:r>
              <a:rPr lang="en-IN" sz="4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 CHAIN &amp; DELIVERY OPERATIONS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803780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3FBE-4E9B-368E-43D6-23AE9011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647"/>
            <a:ext cx="12039966" cy="91470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shipping methods experience the highest delivery delay counts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69830-3363-DE5C-8B50-41EA2CDE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014" y="704537"/>
            <a:ext cx="6990251" cy="2939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29411D-8645-B4AE-B29E-68526D3DB924}"/>
              </a:ext>
            </a:extLst>
          </p:cNvPr>
          <p:cNvSpPr txBox="1"/>
          <p:nvPr/>
        </p:nvSpPr>
        <p:spPr>
          <a:xfrm>
            <a:off x="0" y="3912432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shipping heavily dominates the total delay volume, recording the highest count by far at over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21.5K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delayed flags.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logistics acts as the secondary bottleneck in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chain, tracking next with roughly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delayed flags.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Economy/Surface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 maintains a moderate baseline of delivery friction, sitting at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delayed flags.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Next-Day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 proves to be the most reliable shipping tier, yielding the lowest volume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failures at under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990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41D8-D27D-1532-B32C-4DEBB4D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are the slowest warehouse-to-delivery city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corridors?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BC51CD-4FD9-4E9C-AA73-F9D9EFBAB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94" y="524656"/>
            <a:ext cx="10413410" cy="3147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31C885-D2CE-B747-A24D-339BC9442829}"/>
              </a:ext>
            </a:extLst>
          </p:cNvPr>
          <p:cNvSpPr txBox="1"/>
          <p:nvPr/>
        </p:nvSpPr>
        <p:spPr>
          <a:xfrm>
            <a:off x="1" y="3672590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Patna to Kolkata route experiences the longest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bottleneck, recording the highest average duration at 4.24 days.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Ahmedabad and Warangal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corridors follow closely behind with high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friction, averaging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4.21 days and 4.19 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to Chennai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adjacent mid-tier lanes sustain steady delivery performance, clustering around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4.16 to 4.12 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Thiruvananthapuram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lanes operate as the most efficient routes in the matrix, achieving the lowest turnaround times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4.06 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347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D050-90CB-99C1-0CB8-8BD7CAA7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68" y="148204"/>
            <a:ext cx="11541359" cy="87619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delivery delay correlate with order outcomes (Delivered vs. Delivered then Returned)?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69459-5162-C73E-9AF9-45B67367A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94" y="1144318"/>
            <a:ext cx="9477229" cy="3472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97956F-DEB7-D1A6-BCBB-4DC38DEF1C66}"/>
              </a:ext>
            </a:extLst>
          </p:cNvPr>
          <p:cNvSpPr txBox="1"/>
          <p:nvPr/>
        </p:nvSpPr>
        <p:spPr>
          <a:xfrm>
            <a:off x="0" y="5015842"/>
            <a:ext cx="12296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orders show the highest average turnaround duration, taking just over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successfully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then Returned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items follow closely behind in transit time, averaging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 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road.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successful and returned orders are minimal, showing a narrow difference of roughly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 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two states.</a:t>
            </a:r>
          </a:p>
        </p:txBody>
      </p:sp>
    </p:spTree>
    <p:extLst>
      <p:ext uri="{BB962C8B-B14F-4D97-AF65-F5344CB8AC3E}">
        <p14:creationId xmlns:p14="http://schemas.microsoft.com/office/powerpoint/2010/main" val="960667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DFF416-4422-2150-AA65-02DBA3B94595}"/>
              </a:ext>
            </a:extLst>
          </p:cNvPr>
          <p:cNvSpPr txBox="1"/>
          <p:nvPr/>
        </p:nvSpPr>
        <p:spPr>
          <a:xfrm>
            <a:off x="1304144" y="1768838"/>
            <a:ext cx="94887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4</a:t>
            </a:r>
          </a:p>
          <a:p>
            <a:pPr algn="ctr"/>
            <a:r>
              <a:rPr lang="en-IN" sz="4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 QUALITY &amp; INVENTORY MANAGEMENT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443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5A91-0BFA-159B-1221-12167638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39" y="34218"/>
            <a:ext cx="11631300" cy="1030084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Which product types have high sales volume but critically low stock levels?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BBFCD-5E42-46A5-B552-4EC6A166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593" y="536566"/>
            <a:ext cx="7240250" cy="35822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AFABE8-45A6-F79D-48D9-647228824A5B}"/>
              </a:ext>
            </a:extLst>
          </p:cNvPr>
          <p:cNvSpPr txBox="1"/>
          <p:nvPr/>
        </p:nvSpPr>
        <p:spPr>
          <a:xfrm>
            <a:off x="0" y="4317167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products heavily dominate total portfolio volume, driving the highest quantity by far at over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335K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items serve as the secondary volume engine, tracking next with a steady baseline near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126K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tiered products maintain a healthy mid-market presence, contributing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 to the mix.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sits at the bottom of classified product lines, generating a minor volume of roughly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units.</a:t>
            </a:r>
          </a:p>
        </p:txBody>
      </p:sp>
    </p:spTree>
    <p:extLst>
      <p:ext uri="{BB962C8B-B14F-4D97-AF65-F5344CB8AC3E}">
        <p14:creationId xmlns:p14="http://schemas.microsoft.com/office/powerpoint/2010/main" val="121064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11D3-F828-63FC-E615-1BBEE832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4" y="0"/>
            <a:ext cx="12054058" cy="12369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categories have the highest return volumes and what are their primary return reasons?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B5CA6-1557-1D4E-6DE3-35F1A4A7F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23" y="4886108"/>
            <a:ext cx="10102003" cy="1552791"/>
          </a:xfrm>
        </p:spPr>
        <p:txBody>
          <a:bodyPr>
            <a:normAutofit fontScale="775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Return Category: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Fashion accounts for the highest return volume with 3,185 returned items.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Cause: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"Size issue" is the leading return reason (2,201 items), especially in apparel.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Causes: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"Product damaged" (1,933) and "Changed mind" (1,984) lead returns in Electronics and Footwear.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96064-0481-ADB6-1412-1A00C2086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63" y="1011851"/>
            <a:ext cx="7629993" cy="340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6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17E8-B3D2-068D-2267-0B938D77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11" y="231972"/>
            <a:ext cx="11456717" cy="87619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customer review ratings and sentiments vary across product categories?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2C95E-77C5-94BA-7303-1E31F8AAD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59" y="670068"/>
            <a:ext cx="6614881" cy="35716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4DA300-C2B3-5269-4505-6687FFDDE9F9}"/>
              </a:ext>
            </a:extLst>
          </p:cNvPr>
          <p:cNvSpPr txBox="1"/>
          <p:nvPr/>
        </p:nvSpPr>
        <p:spPr>
          <a:xfrm>
            <a:off x="1" y="4661940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 Supplies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the entire portfolio in sentiment, securing the highest average total rating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and Watches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closely behind as top-tier satisfaction drivers, reaching strong averages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3.96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3.87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Bags and Sports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a resilient baseline in the mid-market, contributing healthy average scores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3.84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3.83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Musical Instruments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sits at the absolute bottom of customer satisfaction, yielding the lowest total score 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8762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108E-2B5B-D642-BBAC-41E209D5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59" y="154139"/>
            <a:ext cx="11316507" cy="87619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Which product types have high sales volume but critically low stock levels?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6C50C4-6045-5F18-5E27-166EC839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23" y="665654"/>
            <a:ext cx="8148428" cy="27633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61026E-E120-11C0-21DB-3B3BA5B79E1A}"/>
              </a:ext>
            </a:extLst>
          </p:cNvPr>
          <p:cNvSpPr txBox="1"/>
          <p:nvPr/>
        </p:nvSpPr>
        <p:spPr>
          <a:xfrm>
            <a:off x="0" y="3597242"/>
            <a:ext cx="121920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Ratings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 tightly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 and 4.5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 entire portfolio, indicating a highly competitive and uniform baseline.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Brands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Sur, Shah, and Rai lead customer satisfaction, with average scores breaking past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threshold.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 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 for brands like Sane, Upadhyay, and Thaman-Sandhu, where average ratings dip to their lowest points near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vs. Non-Verified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purchase metrics show visible gaps for specific brands like Zacharia and Salvi, where unverified reviews diverge from verified buyer experiences.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strong across the majority of brands, with verified and unverified ratings tracking closely together for most labels.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2601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C75BE6-4AFE-2D12-F1E7-983C82A157A1}"/>
              </a:ext>
            </a:extLst>
          </p:cNvPr>
          <p:cNvSpPr txBox="1"/>
          <p:nvPr/>
        </p:nvSpPr>
        <p:spPr>
          <a:xfrm>
            <a:off x="0" y="707886"/>
            <a:ext cx="12192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Focus on High-Margin Pillars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 a strict 15% discount cap: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Stop all markdown rules above 15% immediately. Data shows discounts beyond this threshold completely erode margins, turning healthy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profits into steep losses down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-1,200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down on the top revenue engines: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Reallocate inventory priority and budget to Fashion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Home &amp; Kitchen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Footwear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These three verticals carry your entire volume.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Prune the low-volume long-tail: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Liquidate or shift to a dropship model for the 15+ minor categories (like Grocery and Office Supplies) that sit at just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 each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eliminate warehouse holding drag.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Marketing &amp; Acquisition Channels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capital to Organic Search (SEO):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 underperforming ad spend directly into organic search growth. SEO acts as your most efficient engine, returning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7.67M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revenue on a lean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1.44M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spend.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Restructure or freeze Facebook ad spend: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budgets on Facebook immediately. The platform is an efficiency bottleneck, burning a heavy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3.79M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to yield a very narrow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4.09M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Aggressively fund the top regional triad: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Prioritize localized campaigns and warehouse distribution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 (345M+)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Uttar Pradesh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270M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Gujarat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263M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3CF77-68B1-5661-2962-1B07E61C3C05}"/>
              </a:ext>
            </a:extLst>
          </p:cNvPr>
          <p:cNvSpPr txBox="1"/>
          <p:nvPr/>
        </p:nvSpPr>
        <p:spPr>
          <a:xfrm>
            <a:off x="114925" y="0"/>
            <a:ext cx="5981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49467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167FDD-9254-6BF8-B825-C64623D0F167}"/>
              </a:ext>
            </a:extLst>
          </p:cNvPr>
          <p:cNvSpPr txBox="1"/>
          <p:nvPr/>
        </p:nvSpPr>
        <p:spPr>
          <a:xfrm>
            <a:off x="0" y="374754"/>
            <a:ext cx="1169232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FULFILLMENT &amp; SUPPLY CHAIN OPERATIONS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the sizing mismatch in Fashion: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interactive sizing charts or digital fit tools on product pages. Sizing issues are your top return driver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2,201 cases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hitting your vital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50M Fashion engine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hardest.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Overhaul Standard shipping carrier SLAs: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Renegotiate terms or balance distribution for baseline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Standard shipping is your primary transit bottleneck, driving over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21.5K delayed flags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investing capital to accelerate return speeds: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not spend extra budget to speed up transit for returned items. Returns average a highly uniform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 to 4.1 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return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driven by product fit and quality rather than delivery speed.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begin executing these directives, let me know if you would like me to: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policy directive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discount cap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deliver to your pricing team.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budget shift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moving capital out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Facebook ads and into Organic Search (SEO)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workflow blueprint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churned Gold segment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741969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514</TotalTime>
  <Words>2613</Words>
  <Application>Microsoft Office PowerPoint</Application>
  <PresentationFormat>Widescreen</PresentationFormat>
  <Paragraphs>104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Cambria Math</vt:lpstr>
      <vt:lpstr>Neue Haas Grotesk Text Pro</vt:lpstr>
      <vt:lpstr>Times New Roman</vt:lpstr>
      <vt:lpstr>Wingdings</vt:lpstr>
      <vt:lpstr>Film Burn</vt:lpstr>
      <vt:lpstr>INDIAN E COMMERCE SALES AND CUSTOMER ANALYTICS</vt:lpstr>
      <vt:lpstr>DESCRIPTION ABOUT DATA</vt:lpstr>
      <vt:lpstr>PROCESS</vt:lpstr>
      <vt:lpstr>1)  EDA-FINANCIAL &amp; SALES PERFORMANCE </vt:lpstr>
      <vt:lpstr>2)  EDA-CUSTOMER &amp; MARKETING ANALYTICS</vt:lpstr>
      <vt:lpstr>3) EDA-SUPPLY CHAIN &amp; DELIVERY OPERATIONS</vt:lpstr>
      <vt:lpstr>4) EDA-PRODUCT QUALITY &amp; INVENTORY MANAGEMENT</vt:lpstr>
      <vt:lpstr>DATA MODELING </vt:lpstr>
      <vt:lpstr>PROJECT OBJECTIVES </vt:lpstr>
      <vt:lpstr>PowerPoint Presentation</vt:lpstr>
      <vt:lpstr>1) Which product categories generate the highest gross profit vs. return refund leakage?  </vt:lpstr>
      <vt:lpstr>2) Does higher discounting result in lower profit per unit sold?  </vt:lpstr>
      <vt:lpstr>3) What is the total cash gap between ordered amounts and actual payments collected across payment methods? </vt:lpstr>
      <vt:lpstr>4) How much transaction fee cost is incurred across order statuses?   </vt:lpstr>
      <vt:lpstr>PowerPoint Presentation</vt:lpstr>
      <vt:lpstr>1) What is the total spend distribution across Customer Status and Loyalty Tiers? </vt:lpstr>
      <vt:lpstr>2) Which customer acquisition channels bring the highest average spending customers? </vt:lpstr>
      <vt:lpstr>3) What is the marketing campaign performance across target segments? </vt:lpstr>
      <vt:lpstr>4) Which geographic states have the highest order frequency and spending concentration?  </vt:lpstr>
      <vt:lpstr>PowerPoint Presentation</vt:lpstr>
      <vt:lpstr>1) Which shipping methods experience the highest delivery delay counts?</vt:lpstr>
      <vt:lpstr>2) What are the slowest warehouse-to-delivery city fulfillment corridors?  </vt:lpstr>
      <vt:lpstr>3) How does delivery delay correlate with order outcomes (Delivered vs. Delivered then Returned)? </vt:lpstr>
      <vt:lpstr>PowerPoint Presentation</vt:lpstr>
      <vt:lpstr>1) Which product types have high sales volume but critically low stock levels? </vt:lpstr>
      <vt:lpstr>2) Which product categories have the highest return volumes and what are their primary return reasons? </vt:lpstr>
      <vt:lpstr>3) How do customer review ratings and sentiments vary across product categories?  </vt:lpstr>
      <vt:lpstr>4) Which product types have high sales volume but critically low stock levels?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jothihari2006@gmail.com</dc:creator>
  <cp:lastModifiedBy>jothihari2006@gmail.com</cp:lastModifiedBy>
  <cp:revision>6</cp:revision>
  <dcterms:created xsi:type="dcterms:W3CDTF">2026-10-04T15:07:38Z</dcterms:created>
  <dcterms:modified xsi:type="dcterms:W3CDTF">2026-10-05T07:30:31Z</dcterms:modified>
</cp:coreProperties>
</file>